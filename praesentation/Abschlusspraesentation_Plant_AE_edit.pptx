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939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Julian </a:t>
            </a:r>
            <a:r>
              <a:rPr dirty="0" err="1"/>
              <a:t>Begruessung</a:t>
            </a:r>
            <a:r>
              <a:rPr dirty="0"/>
              <a:t>. Thema: Kann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kostenguenstiges</a:t>
            </a:r>
            <a:r>
              <a:rPr dirty="0"/>
              <a:t> System </a:t>
            </a:r>
            <a:r>
              <a:rPr dirty="0" err="1"/>
              <a:t>akustische</a:t>
            </a:r>
            <a:r>
              <a:rPr dirty="0"/>
              <a:t> </a:t>
            </a:r>
            <a:r>
              <a:rPr dirty="0" err="1"/>
              <a:t>Emissionen</a:t>
            </a:r>
            <a:r>
              <a:rPr dirty="0"/>
              <a:t> von </a:t>
            </a:r>
            <a:r>
              <a:rPr dirty="0" err="1"/>
              <a:t>Pflanzen</a:t>
            </a:r>
            <a:r>
              <a:rPr dirty="0"/>
              <a:t> </a:t>
            </a:r>
            <a:r>
              <a:rPr dirty="0" err="1"/>
              <a:t>unter</a:t>
            </a:r>
            <a:r>
              <a:rPr dirty="0"/>
              <a:t> </a:t>
            </a:r>
            <a:r>
              <a:rPr dirty="0" err="1"/>
              <a:t>Wasserstress</a:t>
            </a:r>
            <a:r>
              <a:rPr dirty="0"/>
              <a:t> </a:t>
            </a:r>
            <a:r>
              <a:rPr dirty="0" err="1"/>
              <a:t>messen</a:t>
            </a:r>
            <a:r>
              <a:rPr dirty="0"/>
              <a:t>? </a:t>
            </a:r>
            <a:r>
              <a:rPr dirty="0" err="1"/>
              <a:t>Zunaechst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Piezo-</a:t>
            </a:r>
            <a:r>
              <a:rPr dirty="0" err="1"/>
              <a:t>Sensoren</a:t>
            </a:r>
            <a:r>
              <a:rPr dirty="0"/>
              <a:t>, </a:t>
            </a:r>
            <a:r>
              <a:rPr dirty="0" err="1"/>
              <a:t>spaeter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MEMS-</a:t>
            </a:r>
            <a:r>
              <a:rPr dirty="0" err="1"/>
              <a:t>Mikrofonen</a:t>
            </a:r>
            <a:r>
              <a:rPr dirty="0"/>
              <a:t>. Ich </a:t>
            </a:r>
            <a:r>
              <a:rPr dirty="0" err="1"/>
              <a:t>stelle</a:t>
            </a:r>
            <a:r>
              <a:rPr dirty="0"/>
              <a:t> Aufbau, </a:t>
            </a:r>
            <a:r>
              <a:rPr dirty="0" err="1"/>
              <a:t>Charakterisierung</a:t>
            </a:r>
            <a:r>
              <a:rPr dirty="0"/>
              <a:t> und die </a:t>
            </a:r>
            <a:r>
              <a:rPr dirty="0" err="1"/>
              <a:t>entscheidenden</a:t>
            </a:r>
            <a:r>
              <a:rPr dirty="0"/>
              <a:t> </a:t>
            </a:r>
            <a:r>
              <a:rPr dirty="0" err="1"/>
              <a:t>Experimente</a:t>
            </a:r>
            <a:r>
              <a:rPr dirty="0"/>
              <a:t> </a:t>
            </a:r>
            <a:r>
              <a:rPr dirty="0" err="1"/>
              <a:t>vor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D1E4D-3270-25BB-0D7C-B57AC2356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B79335-73B0-970C-FFFA-011BA029E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6FCFF-4201-1467-6A9D-5FB796193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Julian </a:t>
            </a:r>
            <a:r>
              <a:rPr dirty="0"/>
              <a:t>AE = </a:t>
            </a:r>
            <a:r>
              <a:rPr dirty="0" err="1"/>
              <a:t>akustische</a:t>
            </a:r>
            <a:r>
              <a:rPr dirty="0"/>
              <a:t> Emission. Idee: Wenn </a:t>
            </a:r>
            <a:r>
              <a:rPr dirty="0" err="1"/>
              <a:t>Wasserstress</a:t>
            </a:r>
            <a:r>
              <a:rPr dirty="0"/>
              <a:t> die </a:t>
            </a:r>
            <a:r>
              <a:rPr dirty="0" err="1"/>
              <a:t>Kavitationsrate</a:t>
            </a:r>
            <a:r>
              <a:rPr dirty="0"/>
              <a:t> </a:t>
            </a:r>
            <a:r>
              <a:rPr dirty="0" err="1"/>
              <a:t>erhoeht</a:t>
            </a:r>
            <a:r>
              <a:rPr dirty="0"/>
              <a:t>, </a:t>
            </a:r>
            <a:r>
              <a:rPr dirty="0" err="1"/>
              <a:t>koennte</a:t>
            </a:r>
            <a:r>
              <a:rPr dirty="0"/>
              <a:t> man </a:t>
            </a:r>
            <a:r>
              <a:rPr dirty="0" err="1"/>
              <a:t>Trockenheit</a:t>
            </a:r>
            <a:r>
              <a:rPr dirty="0"/>
              <a:t> </a:t>
            </a:r>
            <a:r>
              <a:rPr dirty="0" err="1"/>
              <a:t>hoeren</a:t>
            </a:r>
            <a:r>
              <a:rPr dirty="0"/>
              <a:t>. Frage: </a:t>
            </a:r>
            <a:r>
              <a:rPr dirty="0" err="1"/>
              <a:t>reicht</a:t>
            </a:r>
            <a:r>
              <a:rPr dirty="0"/>
              <a:t> </a:t>
            </a:r>
            <a:r>
              <a:rPr dirty="0" err="1"/>
              <a:t>dafuer</a:t>
            </a:r>
            <a:r>
              <a:rPr dirty="0"/>
              <a:t> </a:t>
            </a:r>
            <a:r>
              <a:rPr dirty="0" err="1"/>
              <a:t>billige</a:t>
            </a:r>
            <a:r>
              <a:rPr dirty="0"/>
              <a:t> Hardware? Vier </a:t>
            </a:r>
            <a:r>
              <a:rPr dirty="0" err="1"/>
              <a:t>Beitraege</a:t>
            </a:r>
            <a:r>
              <a:rPr dirty="0"/>
              <a:t> </a:t>
            </a:r>
            <a:r>
              <a:rPr dirty="0" err="1"/>
              <a:t>gliedern</a:t>
            </a:r>
            <a:r>
              <a:rPr dirty="0"/>
              <a:t> den </a:t>
            </a:r>
            <a:r>
              <a:rPr dirty="0" err="1"/>
              <a:t>Vortrag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5650A-2213-17F1-7409-7562D1881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38192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Drei Kanaele: ein Sensor im Boden bei der Pflanze, zwei Referenzsensoren am Stahlstab fuer Laufzeit/Kalibrierung. LM358 ist ein Standard-Cent-Verstaerker. Aufnahme im Deep-Memory-Modus.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Links das </a:t>
            </a:r>
            <a:r>
              <a:rPr dirty="0" err="1"/>
              <a:t>reale</a:t>
            </a:r>
            <a:r>
              <a:rPr dirty="0"/>
              <a:t> Setup: die </a:t>
            </a:r>
            <a:r>
              <a:rPr dirty="0" err="1"/>
              <a:t>Pflanze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dem Boden-Piezo (CH1). </a:t>
            </a:r>
            <a:r>
              <a:rPr dirty="0" err="1"/>
              <a:t>Rechts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tatsaechlich</a:t>
            </a:r>
            <a:r>
              <a:rPr dirty="0"/>
              <a:t> </a:t>
            </a:r>
            <a:r>
              <a:rPr dirty="0" err="1"/>
              <a:t>aufgenommenes</a:t>
            </a:r>
            <a:r>
              <a:rPr dirty="0"/>
              <a:t> </a:t>
            </a:r>
            <a:r>
              <a:rPr dirty="0" err="1"/>
              <a:t>Oszilloskop</a:t>
            </a:r>
            <a:r>
              <a:rPr dirty="0"/>
              <a:t>-Spektrum </a:t>
            </a:r>
            <a:r>
              <a:rPr dirty="0" err="1"/>
              <a:t>aus</a:t>
            </a:r>
            <a:r>
              <a:rPr dirty="0"/>
              <a:t> dem </a:t>
            </a:r>
            <a:r>
              <a:rPr dirty="0" err="1"/>
              <a:t>Bewaesserungsexperiment</a:t>
            </a:r>
            <a:r>
              <a:rPr dirty="0"/>
              <a:t>. Damit </a:t>
            </a:r>
            <a:r>
              <a:rPr dirty="0" err="1"/>
              <a:t>wird</a:t>
            </a:r>
            <a:r>
              <a:rPr dirty="0"/>
              <a:t> der </a:t>
            </a:r>
            <a:r>
              <a:rPr dirty="0" err="1"/>
              <a:t>abstrakte</a:t>
            </a:r>
            <a:r>
              <a:rPr dirty="0"/>
              <a:t> </a:t>
            </a:r>
            <a:r>
              <a:rPr dirty="0" err="1"/>
              <a:t>Schaltplan</a:t>
            </a:r>
            <a:r>
              <a:rPr dirty="0"/>
              <a:t> der </a:t>
            </a:r>
            <a:r>
              <a:rPr dirty="0" err="1"/>
              <a:t>Vorfolie</a:t>
            </a:r>
            <a:r>
              <a:rPr dirty="0"/>
              <a:t> </a:t>
            </a:r>
            <a:r>
              <a:rPr dirty="0" err="1"/>
              <a:t>greifbar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Christoph </a:t>
            </a:r>
            <a:r>
              <a:rPr dirty="0" err="1"/>
              <a:t>Kalibrierung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bekanntem</a:t>
            </a:r>
            <a:r>
              <a:rPr dirty="0"/>
              <a:t> Chirp -&gt;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kennen</a:t>
            </a:r>
            <a:r>
              <a:rPr dirty="0"/>
              <a:t> das </a:t>
            </a:r>
            <a:r>
              <a:rPr dirty="0" err="1"/>
              <a:t>Eingangssignal</a:t>
            </a:r>
            <a:r>
              <a:rPr dirty="0"/>
              <a:t> und </a:t>
            </a:r>
            <a:r>
              <a:rPr dirty="0" err="1"/>
              <a:t>koennen</a:t>
            </a:r>
            <a:r>
              <a:rPr dirty="0"/>
              <a:t> die Kette </a:t>
            </a:r>
            <a:r>
              <a:rPr dirty="0" err="1"/>
              <a:t>vermessen</a:t>
            </a:r>
            <a:r>
              <a:rPr dirty="0"/>
              <a:t>. </a:t>
            </a:r>
            <a:r>
              <a:rPr dirty="0" err="1"/>
              <a:t>Kohaerenz</a:t>
            </a:r>
            <a:r>
              <a:rPr dirty="0"/>
              <a:t> </a:t>
            </a:r>
            <a:r>
              <a:rPr dirty="0" err="1"/>
              <a:t>misst</a:t>
            </a:r>
            <a:r>
              <a:rPr dirty="0"/>
              <a:t>, </a:t>
            </a:r>
            <a:r>
              <a:rPr dirty="0" err="1"/>
              <a:t>ob</a:t>
            </a:r>
            <a:r>
              <a:rPr dirty="0"/>
              <a:t> </a:t>
            </a:r>
            <a:r>
              <a:rPr dirty="0" err="1"/>
              <a:t>zwei</a:t>
            </a:r>
            <a:r>
              <a:rPr dirty="0"/>
              <a:t> </a:t>
            </a:r>
            <a:r>
              <a:rPr dirty="0" err="1"/>
              <a:t>Kanaele</a:t>
            </a:r>
            <a:r>
              <a:rPr dirty="0"/>
              <a:t> </a:t>
            </a:r>
            <a:r>
              <a:rPr dirty="0" err="1"/>
              <a:t>dasselbe</a:t>
            </a:r>
            <a:r>
              <a:rPr dirty="0"/>
              <a:t> </a:t>
            </a:r>
            <a:r>
              <a:rPr dirty="0" err="1"/>
              <a:t>sehen</a:t>
            </a:r>
            <a:r>
              <a:rPr dirty="0"/>
              <a:t>. </a:t>
            </a:r>
            <a:r>
              <a:rPr dirty="0" err="1"/>
              <a:t>Statistik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bewusst</a:t>
            </a:r>
            <a:r>
              <a:rPr dirty="0"/>
              <a:t> </a:t>
            </a:r>
            <a:r>
              <a:rPr dirty="0" err="1"/>
              <a:t>streng</a:t>
            </a:r>
            <a:r>
              <a:rPr dirty="0"/>
              <a:t>, </a:t>
            </a:r>
            <a:r>
              <a:rPr dirty="0" err="1"/>
              <a:t>inkl</a:t>
            </a:r>
            <a:r>
              <a:rPr dirty="0"/>
              <a:t>. Drift-</a:t>
            </a:r>
            <a:r>
              <a:rPr dirty="0" err="1"/>
              <a:t>Kontrolle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Christoph </a:t>
            </a:r>
            <a:r>
              <a:rPr dirty="0"/>
              <a:t>Links: </a:t>
            </a:r>
            <a:r>
              <a:rPr dirty="0" err="1"/>
              <a:t>Kohaerenz</a:t>
            </a:r>
            <a:r>
              <a:rPr dirty="0"/>
              <a:t> </a:t>
            </a:r>
            <a:r>
              <a:rPr dirty="0" err="1"/>
              <a:t>nahe</a:t>
            </a:r>
            <a:r>
              <a:rPr dirty="0"/>
              <a:t> 1 bis 35 kHz -&gt; </a:t>
            </a:r>
            <a:r>
              <a:rPr dirty="0" err="1"/>
              <a:t>beide</a:t>
            </a:r>
            <a:r>
              <a:rPr dirty="0"/>
              <a:t> </a:t>
            </a:r>
            <a:r>
              <a:rPr dirty="0" err="1"/>
              <a:t>Referenzsensoren</a:t>
            </a:r>
            <a:r>
              <a:rPr dirty="0"/>
              <a:t> </a:t>
            </a:r>
            <a:r>
              <a:rPr dirty="0" err="1"/>
              <a:t>sehen</a:t>
            </a:r>
            <a:r>
              <a:rPr dirty="0"/>
              <a:t> </a:t>
            </a:r>
            <a:r>
              <a:rPr dirty="0" err="1"/>
              <a:t>dasselbe</a:t>
            </a:r>
            <a:r>
              <a:rPr dirty="0"/>
              <a:t>, Kette </a:t>
            </a:r>
            <a:r>
              <a:rPr dirty="0" err="1"/>
              <a:t>ueberträgt</a:t>
            </a:r>
            <a:r>
              <a:rPr dirty="0"/>
              <a:t> </a:t>
            </a:r>
            <a:r>
              <a:rPr dirty="0" err="1"/>
              <a:t>sauber</a:t>
            </a:r>
            <a:r>
              <a:rPr dirty="0"/>
              <a:t>. </a:t>
            </a:r>
            <a:r>
              <a:rPr dirty="0" err="1"/>
              <a:t>Rechts</a:t>
            </a:r>
            <a:r>
              <a:rPr dirty="0"/>
              <a:t>: </a:t>
            </a:r>
            <a:r>
              <a:rPr dirty="0" err="1"/>
              <a:t>oberhalb</a:t>
            </a:r>
            <a:r>
              <a:rPr dirty="0"/>
              <a:t> 35 kHz </a:t>
            </a:r>
            <a:r>
              <a:rPr dirty="0" err="1"/>
              <a:t>faellt</a:t>
            </a:r>
            <a:r>
              <a:rPr dirty="0"/>
              <a:t> die Amplitude ab (LM358-Grenze). Peaks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Stahlstab-Eigenmoden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Christoph </a:t>
            </a:r>
            <a:r>
              <a:rPr dirty="0"/>
              <a:t>Links: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Nutzband</a:t>
            </a:r>
            <a:r>
              <a:rPr dirty="0"/>
              <a:t> </a:t>
            </a:r>
            <a:r>
              <a:rPr dirty="0" err="1"/>
              <a:t>liegt</a:t>
            </a:r>
            <a:r>
              <a:rPr dirty="0"/>
              <a:t> die </a:t>
            </a:r>
            <a:r>
              <a:rPr dirty="0" err="1"/>
              <a:t>Laufzeitdifferenz</a:t>
            </a:r>
            <a:r>
              <a:rPr dirty="0"/>
              <a:t> </a:t>
            </a:r>
            <a:r>
              <a:rPr dirty="0" err="1"/>
              <a:t>innerhalb</a:t>
            </a:r>
            <a:r>
              <a:rPr dirty="0"/>
              <a:t> ±0,3 µs -&gt; </a:t>
            </a:r>
            <a:r>
              <a:rPr dirty="0" err="1"/>
              <a:t>Sensoren</a:t>
            </a:r>
            <a:r>
              <a:rPr dirty="0"/>
              <a:t> </a:t>
            </a:r>
            <a:r>
              <a:rPr dirty="0" err="1"/>
              <a:t>gleich</a:t>
            </a:r>
            <a:r>
              <a:rPr dirty="0"/>
              <a:t> </a:t>
            </a:r>
            <a:r>
              <a:rPr dirty="0" err="1"/>
              <a:t>weit</a:t>
            </a:r>
            <a:r>
              <a:rPr dirty="0"/>
              <a:t> </a:t>
            </a:r>
            <a:r>
              <a:rPr dirty="0" err="1"/>
              <a:t>entfernt</a:t>
            </a:r>
            <a:r>
              <a:rPr dirty="0"/>
              <a:t>. </a:t>
            </a:r>
            <a:r>
              <a:rPr dirty="0" err="1"/>
              <a:t>Rechts</a:t>
            </a:r>
            <a:r>
              <a:rPr dirty="0"/>
              <a:t>: an der Stahl-</a:t>
            </a:r>
            <a:r>
              <a:rPr dirty="0" err="1"/>
              <a:t>Resonanz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konstanter</a:t>
            </a:r>
            <a:r>
              <a:rPr dirty="0"/>
              <a:t> 1,95-µs-</a:t>
            </a:r>
            <a:r>
              <a:rPr dirty="0" err="1"/>
              <a:t>Versatz</a:t>
            </a:r>
            <a:r>
              <a:rPr dirty="0"/>
              <a:t>, </a:t>
            </a:r>
            <a:r>
              <a:rPr dirty="0" err="1"/>
              <a:t>ueber</a:t>
            </a:r>
            <a:r>
              <a:rPr dirty="0"/>
              <a:t> alle Frames </a:t>
            </a:r>
            <a:r>
              <a:rPr dirty="0" err="1"/>
              <a:t>identisch</a:t>
            </a:r>
            <a:r>
              <a:rPr dirty="0"/>
              <a:t> -&gt; </a:t>
            </a:r>
            <a:r>
              <a:rPr dirty="0" err="1"/>
              <a:t>Artefakt</a:t>
            </a:r>
            <a:r>
              <a:rPr dirty="0"/>
              <a:t> der </a:t>
            </a:r>
            <a:r>
              <a:rPr dirty="0" err="1"/>
              <a:t>Resonanz</a:t>
            </a:r>
            <a:r>
              <a:rPr dirty="0"/>
              <a:t>, </a:t>
            </a:r>
            <a:r>
              <a:rPr dirty="0" err="1"/>
              <a:t>nicht</a:t>
            </a:r>
            <a:r>
              <a:rPr dirty="0"/>
              <a:t> der </a:t>
            </a:r>
            <a:r>
              <a:rPr dirty="0" err="1"/>
              <a:t>Wegdifferenz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Christoph </a:t>
            </a: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anliegendes</a:t>
            </a:r>
            <a:r>
              <a:rPr dirty="0"/>
              <a:t> Signal </a:t>
            </a:r>
            <a:r>
              <a:rPr dirty="0" err="1"/>
              <a:t>aufgenommen</a:t>
            </a:r>
            <a:r>
              <a:rPr dirty="0"/>
              <a:t>: 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reines</a:t>
            </a:r>
            <a:r>
              <a:rPr dirty="0"/>
              <a:t> </a:t>
            </a:r>
            <a:r>
              <a:rPr dirty="0" err="1"/>
              <a:t>Rauschen</a:t>
            </a:r>
            <a:r>
              <a:rPr dirty="0"/>
              <a:t> </a:t>
            </a:r>
            <a:r>
              <a:rPr dirty="0" err="1"/>
              <a:t>jedes</a:t>
            </a:r>
            <a:r>
              <a:rPr dirty="0"/>
              <a:t> Kanals. CH4 </a:t>
            </a:r>
            <a:r>
              <a:rPr dirty="0" err="1"/>
              <a:t>ist</a:t>
            </a:r>
            <a:r>
              <a:rPr dirty="0"/>
              <a:t> am </a:t>
            </a:r>
            <a:r>
              <a:rPr dirty="0" err="1"/>
              <a:t>leisesten</a:t>
            </a:r>
            <a:r>
              <a:rPr dirty="0"/>
              <a:t> (</a:t>
            </a:r>
            <a:r>
              <a:rPr dirty="0" err="1"/>
              <a:t>Verstaerker-Grundrauschen</a:t>
            </a:r>
            <a:r>
              <a:rPr dirty="0"/>
              <a:t>). CH1, der </a:t>
            </a:r>
            <a:r>
              <a:rPr dirty="0" err="1"/>
              <a:t>Pflanzenkanal</a:t>
            </a:r>
            <a:r>
              <a:rPr dirty="0"/>
              <a:t>, </a:t>
            </a:r>
            <a:r>
              <a:rPr dirty="0" err="1"/>
              <a:t>ist</a:t>
            </a:r>
            <a:r>
              <a:rPr dirty="0"/>
              <a:t> am </a:t>
            </a:r>
            <a:r>
              <a:rPr dirty="0" err="1"/>
              <a:t>lautesten</a:t>
            </a:r>
            <a:r>
              <a:rPr dirty="0"/>
              <a:t>. </a:t>
            </a: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Kurve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die </a:t>
            </a:r>
            <a:r>
              <a:rPr dirty="0" err="1"/>
              <a:t>Nachweisschwelle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Euphorbia leuconeura, einzelnes Bewaesserungsereignis. Das Signal driftet nur langsam nach oben (Verstaerker erwaermt sich) – kein Sprung bei der Bewaesserung. Wichtig: der naive Test waere faelschlich signifikant geworden; erst die Drift-Kontrolle deckt das Artefakt auf.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Christoph </a:t>
            </a:r>
            <a:r>
              <a:rPr dirty="0" err="1"/>
              <a:t>Gegenprobe</a:t>
            </a:r>
            <a:r>
              <a:rPr dirty="0"/>
              <a:t>: </a:t>
            </a:r>
            <a:r>
              <a:rPr dirty="0" err="1"/>
              <a:t>speisen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echtes</a:t>
            </a:r>
            <a:r>
              <a:rPr dirty="0"/>
              <a:t> Signal in CH1, </a:t>
            </a:r>
            <a:r>
              <a:rPr dirty="0" err="1"/>
              <a:t>trennt</a:t>
            </a:r>
            <a:r>
              <a:rPr dirty="0"/>
              <a:t> die </a:t>
            </a:r>
            <a:r>
              <a:rPr dirty="0" err="1"/>
              <a:t>Auswertung</a:t>
            </a:r>
            <a:r>
              <a:rPr dirty="0"/>
              <a:t> es </a:t>
            </a:r>
            <a:r>
              <a:rPr dirty="0" err="1"/>
              <a:t>eindeutig</a:t>
            </a:r>
            <a:r>
              <a:rPr dirty="0"/>
              <a:t> </a:t>
            </a:r>
            <a:r>
              <a:rPr dirty="0" err="1"/>
              <a:t>vom</a:t>
            </a:r>
            <a:r>
              <a:rPr dirty="0"/>
              <a:t> </a:t>
            </a:r>
            <a:r>
              <a:rPr dirty="0" err="1"/>
              <a:t>stillen</a:t>
            </a:r>
            <a:r>
              <a:rPr dirty="0"/>
              <a:t> Kanal. Damit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bewiesen</a:t>
            </a:r>
            <a:r>
              <a:rPr dirty="0"/>
              <a:t>: </a:t>
            </a:r>
            <a:r>
              <a:rPr dirty="0" err="1"/>
              <a:t>findet</a:t>
            </a:r>
            <a:r>
              <a:rPr dirty="0"/>
              <a:t> die Pipeline </a:t>
            </a:r>
            <a:r>
              <a:rPr dirty="0" err="1"/>
              <a:t>nichts</a:t>
            </a:r>
            <a:r>
              <a:rPr dirty="0"/>
              <a:t>,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wirklich</a:t>
            </a:r>
            <a:r>
              <a:rPr dirty="0"/>
              <a:t> </a:t>
            </a:r>
            <a:r>
              <a:rPr dirty="0" err="1"/>
              <a:t>nichts</a:t>
            </a:r>
            <a:r>
              <a:rPr dirty="0"/>
              <a:t> da – </a:t>
            </a:r>
            <a:r>
              <a:rPr dirty="0" err="1"/>
              <a:t>nicht</a:t>
            </a:r>
            <a:r>
              <a:rPr dirty="0"/>
              <a:t> die </a:t>
            </a:r>
            <a:r>
              <a:rPr dirty="0" err="1"/>
              <a:t>Auswertung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blind.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Christoph </a:t>
            </a:r>
            <a:r>
              <a:rPr dirty="0"/>
              <a:t>Phase 3: </a:t>
            </a:r>
            <a:r>
              <a:rPr dirty="0" err="1"/>
              <a:t>neuer</a:t>
            </a:r>
            <a:r>
              <a:rPr dirty="0"/>
              <a:t> </a:t>
            </a:r>
            <a:r>
              <a:rPr dirty="0" err="1"/>
              <a:t>Standort</a:t>
            </a:r>
            <a:r>
              <a:rPr dirty="0"/>
              <a:t>, CH3/CH4 </a:t>
            </a:r>
            <a:r>
              <a:rPr dirty="0" err="1"/>
              <a:t>jetzt</a:t>
            </a:r>
            <a:r>
              <a:rPr dirty="0"/>
              <a:t> MEMS-</a:t>
            </a:r>
            <a:r>
              <a:rPr dirty="0" err="1"/>
              <a:t>Mikrofone</a:t>
            </a:r>
            <a:r>
              <a:rPr dirty="0"/>
              <a:t> </a:t>
            </a:r>
            <a:r>
              <a:rPr dirty="0" err="1"/>
              <a:t>statt</a:t>
            </a:r>
            <a:r>
              <a:rPr dirty="0"/>
              <a:t> Piezo, </a:t>
            </a:r>
            <a:r>
              <a:rPr dirty="0" err="1"/>
              <a:t>neue</a:t>
            </a:r>
            <a:r>
              <a:rPr dirty="0"/>
              <a:t> </a:t>
            </a:r>
            <a:r>
              <a:rPr dirty="0" err="1"/>
              <a:t>Pflanze</a:t>
            </a:r>
            <a:r>
              <a:rPr dirty="0"/>
              <a:t> (Salat). Die MEMS-Kette </a:t>
            </a:r>
            <a:r>
              <a:rPr dirty="0" err="1"/>
              <a:t>wurde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demselben</a:t>
            </a:r>
            <a:r>
              <a:rPr dirty="0"/>
              <a:t> </a:t>
            </a:r>
            <a:r>
              <a:rPr dirty="0" err="1"/>
              <a:t>Verfahren</a:t>
            </a:r>
            <a:r>
              <a:rPr dirty="0"/>
              <a:t> </a:t>
            </a:r>
            <a:r>
              <a:rPr dirty="0" err="1"/>
              <a:t>wie</a:t>
            </a:r>
            <a:r>
              <a:rPr dirty="0"/>
              <a:t> die Piezo-Kette </a:t>
            </a:r>
            <a:r>
              <a:rPr dirty="0" err="1"/>
              <a:t>charakterisiert</a:t>
            </a:r>
            <a:r>
              <a:rPr dirty="0"/>
              <a:t> – </a:t>
            </a:r>
            <a:r>
              <a:rPr dirty="0" err="1"/>
              <a:t>nutzbares</a:t>
            </a:r>
            <a:r>
              <a:rPr dirty="0"/>
              <a:t> Band </a:t>
            </a:r>
            <a:r>
              <a:rPr dirty="0" err="1"/>
              <a:t>bleibt</a:t>
            </a:r>
            <a:r>
              <a:rPr dirty="0"/>
              <a:t> 5–35 kHz. </a:t>
            </a:r>
            <a:r>
              <a:rPr dirty="0" err="1"/>
              <a:t>Wichtig</a:t>
            </a:r>
            <a:r>
              <a:rPr dirty="0"/>
              <a:t>: der 5,36-kHz-Stoerkamm </a:t>
            </a:r>
            <a:r>
              <a:rPr dirty="0" err="1"/>
              <a:t>ist</a:t>
            </a:r>
            <a:r>
              <a:rPr dirty="0"/>
              <a:t> NICHT </a:t>
            </a:r>
            <a:r>
              <a:rPr dirty="0" err="1"/>
              <a:t>eindeutig</a:t>
            </a:r>
            <a:r>
              <a:rPr dirty="0"/>
              <a:t> dem </a:t>
            </a:r>
            <a:r>
              <a:rPr dirty="0" err="1"/>
              <a:t>Netzteil</a:t>
            </a:r>
            <a:r>
              <a:rPr dirty="0"/>
              <a:t> </a:t>
            </a:r>
            <a:r>
              <a:rPr dirty="0" err="1"/>
              <a:t>zuzuordnen</a:t>
            </a:r>
            <a:r>
              <a:rPr dirty="0"/>
              <a:t>; </a:t>
            </a:r>
            <a:r>
              <a:rPr dirty="0" err="1"/>
              <a:t>ein</a:t>
            </a:r>
            <a:r>
              <a:rPr dirty="0"/>
              <a:t> A/B-Tausch </a:t>
            </a:r>
            <a:r>
              <a:rPr dirty="0" err="1"/>
              <a:t>verschob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die </a:t>
            </a:r>
            <a:r>
              <a:rPr dirty="0" err="1"/>
              <a:t>Frequenz</a:t>
            </a:r>
            <a:r>
              <a:rPr dirty="0"/>
              <a:t>. </a:t>
            </a:r>
            <a:r>
              <a:rPr dirty="0" err="1"/>
              <a:t>Rohdaten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automatisch</a:t>
            </a:r>
            <a:r>
              <a:rPr dirty="0"/>
              <a:t> per git-LFS </a:t>
            </a:r>
            <a:r>
              <a:rPr dirty="0" err="1"/>
              <a:t>committet</a:t>
            </a:r>
            <a:r>
              <a:rPr dirty="0"/>
              <a:t> –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versionierte</a:t>
            </a:r>
            <a:r>
              <a:rPr dirty="0"/>
              <a:t>, </a:t>
            </a:r>
            <a:r>
              <a:rPr dirty="0" err="1"/>
              <a:t>nachvollziehbare</a:t>
            </a:r>
            <a:r>
              <a:rPr dirty="0"/>
              <a:t>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Christoph </a:t>
            </a:r>
            <a:r>
              <a:rPr dirty="0"/>
              <a:t>Zwei passive MEMS-</a:t>
            </a:r>
            <a:r>
              <a:rPr dirty="0" err="1"/>
              <a:t>Kampagnen</a:t>
            </a:r>
            <a:r>
              <a:rPr dirty="0"/>
              <a:t>: Luft-</a:t>
            </a:r>
            <a:r>
              <a:rPr dirty="0" err="1"/>
              <a:t>Referenz</a:t>
            </a:r>
            <a:r>
              <a:rPr dirty="0"/>
              <a:t> und </a:t>
            </a:r>
            <a:r>
              <a:rPr dirty="0" err="1"/>
              <a:t>beide</a:t>
            </a:r>
            <a:r>
              <a:rPr dirty="0"/>
              <a:t> </a:t>
            </a:r>
            <a:r>
              <a:rPr dirty="0" err="1"/>
              <a:t>Mikrofone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Boden. Der Boden </a:t>
            </a:r>
            <a:r>
              <a:rPr dirty="0" err="1"/>
              <a:t>hebt</a:t>
            </a:r>
            <a:r>
              <a:rPr dirty="0"/>
              <a:t> den Pegel stark, </a:t>
            </a:r>
            <a:r>
              <a:rPr dirty="0" err="1"/>
              <a:t>aber</a:t>
            </a:r>
            <a:r>
              <a:rPr dirty="0"/>
              <a:t> die </a:t>
            </a:r>
            <a:r>
              <a:rPr dirty="0" err="1"/>
              <a:t>Kanaele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fast </a:t>
            </a:r>
            <a:r>
              <a:rPr dirty="0" err="1"/>
              <a:t>identisch</a:t>
            </a:r>
            <a:r>
              <a:rPr dirty="0"/>
              <a:t> und die </a:t>
            </a:r>
            <a:r>
              <a:rPr dirty="0" err="1"/>
              <a:t>Laufzeit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exakt</a:t>
            </a:r>
            <a:r>
              <a:rPr dirty="0"/>
              <a:t> null – 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gemeinsame</a:t>
            </a:r>
            <a:r>
              <a:rPr dirty="0"/>
              <a:t> </a:t>
            </a:r>
            <a:r>
              <a:rPr dirty="0" err="1"/>
              <a:t>Einkopplung</a:t>
            </a:r>
            <a:r>
              <a:rPr dirty="0"/>
              <a:t>,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ortbares</a:t>
            </a:r>
            <a:r>
              <a:rPr dirty="0"/>
              <a:t> </a:t>
            </a:r>
            <a:r>
              <a:rPr dirty="0" err="1"/>
              <a:t>Pflanzensignal</a:t>
            </a:r>
            <a:r>
              <a:rPr dirty="0"/>
              <a:t>. Dazu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Saettigungsfehler</a:t>
            </a:r>
            <a:r>
              <a:rPr dirty="0"/>
              <a:t> auf CH3. Kein </a:t>
            </a:r>
            <a:r>
              <a:rPr dirty="0" err="1"/>
              <a:t>statistisch</a:t>
            </a:r>
            <a:r>
              <a:rPr dirty="0"/>
              <a:t> </a:t>
            </a:r>
            <a:r>
              <a:rPr dirty="0" err="1"/>
              <a:t>belastbares</a:t>
            </a:r>
            <a:r>
              <a:rPr dirty="0"/>
              <a:t> </a:t>
            </a:r>
            <a:r>
              <a:rPr dirty="0" err="1"/>
              <a:t>Pflanzen</a:t>
            </a:r>
            <a:r>
              <a:rPr dirty="0"/>
              <a:t>-AE.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Zusammen </a:t>
            </a:r>
            <a:r>
              <a:rPr dirty="0" err="1"/>
              <a:t>Ehrliches</a:t>
            </a:r>
            <a:r>
              <a:rPr dirty="0"/>
              <a:t> </a:t>
            </a:r>
            <a:r>
              <a:rPr dirty="0" err="1"/>
              <a:t>Ergebnis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beide</a:t>
            </a:r>
            <a:r>
              <a:rPr dirty="0"/>
              <a:t> </a:t>
            </a:r>
            <a:r>
              <a:rPr dirty="0" err="1"/>
              <a:t>Sensorgenerationen</a:t>
            </a:r>
            <a:r>
              <a:rPr dirty="0"/>
              <a:t>: </a:t>
            </a:r>
            <a:r>
              <a:rPr dirty="0" err="1"/>
              <a:t>weder</a:t>
            </a:r>
            <a:r>
              <a:rPr dirty="0"/>
              <a:t> Piezo </a:t>
            </a:r>
            <a:r>
              <a:rPr dirty="0" err="1"/>
              <a:t>noch</a:t>
            </a:r>
            <a:r>
              <a:rPr dirty="0"/>
              <a:t> MEMS </a:t>
            </a:r>
            <a:r>
              <a:rPr dirty="0" err="1"/>
              <a:t>weisen</a:t>
            </a:r>
            <a:r>
              <a:rPr dirty="0"/>
              <a:t> </a:t>
            </a:r>
            <a:r>
              <a:rPr dirty="0" err="1"/>
              <a:t>Pflanzen</a:t>
            </a:r>
            <a:r>
              <a:rPr dirty="0"/>
              <a:t>-AE </a:t>
            </a:r>
            <a:r>
              <a:rPr dirty="0" err="1"/>
              <a:t>nach</a:t>
            </a:r>
            <a:r>
              <a:rPr dirty="0"/>
              <a:t>. Aber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wissen</a:t>
            </a:r>
            <a:r>
              <a:rPr dirty="0"/>
              <a:t> </a:t>
            </a:r>
            <a:r>
              <a:rPr dirty="0" err="1"/>
              <a:t>jetzt</a:t>
            </a:r>
            <a:r>
              <a:rPr dirty="0"/>
              <a:t> </a:t>
            </a:r>
            <a:r>
              <a:rPr dirty="0" err="1"/>
              <a:t>genau</a:t>
            </a:r>
            <a:r>
              <a:rPr dirty="0"/>
              <a:t> WARUM – </a:t>
            </a:r>
            <a:r>
              <a:rPr dirty="0" err="1"/>
              <a:t>Rauschgrenze</a:t>
            </a:r>
            <a:r>
              <a:rPr dirty="0"/>
              <a:t>, common-mode-</a:t>
            </a:r>
            <a:r>
              <a:rPr dirty="0" err="1"/>
              <a:t>Einkopplung</a:t>
            </a:r>
            <a:r>
              <a:rPr dirty="0"/>
              <a:t>, </a:t>
            </a:r>
            <a:r>
              <a:rPr dirty="0" err="1"/>
              <a:t>Bandbreite</a:t>
            </a:r>
            <a:r>
              <a:rPr dirty="0"/>
              <a:t> – und 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verwertbar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F79D-427C-12ED-A134-6692CAD45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C7C8F-FFF0-67AB-16F0-562EF74F78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67FB8-BC5F-10E4-13FA-69DFAFC745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Zusammen </a:t>
            </a:r>
            <a:r>
              <a:rPr dirty="0" err="1"/>
              <a:t>Ehrliches</a:t>
            </a:r>
            <a:r>
              <a:rPr dirty="0"/>
              <a:t> </a:t>
            </a:r>
            <a:r>
              <a:rPr dirty="0" err="1"/>
              <a:t>Ergebnis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beide</a:t>
            </a:r>
            <a:r>
              <a:rPr dirty="0"/>
              <a:t> </a:t>
            </a:r>
            <a:r>
              <a:rPr dirty="0" err="1"/>
              <a:t>Sensorgenerationen</a:t>
            </a:r>
            <a:r>
              <a:rPr dirty="0"/>
              <a:t>: </a:t>
            </a:r>
            <a:r>
              <a:rPr dirty="0" err="1"/>
              <a:t>weder</a:t>
            </a:r>
            <a:r>
              <a:rPr dirty="0"/>
              <a:t> Piezo </a:t>
            </a:r>
            <a:r>
              <a:rPr dirty="0" err="1"/>
              <a:t>noch</a:t>
            </a:r>
            <a:r>
              <a:rPr dirty="0"/>
              <a:t> MEMS </a:t>
            </a:r>
            <a:r>
              <a:rPr dirty="0" err="1"/>
              <a:t>weisen</a:t>
            </a:r>
            <a:r>
              <a:rPr dirty="0"/>
              <a:t> </a:t>
            </a:r>
            <a:r>
              <a:rPr dirty="0" err="1"/>
              <a:t>Pflanzen</a:t>
            </a:r>
            <a:r>
              <a:rPr dirty="0"/>
              <a:t>-AE </a:t>
            </a:r>
            <a:r>
              <a:rPr dirty="0" err="1"/>
              <a:t>nach</a:t>
            </a:r>
            <a:r>
              <a:rPr dirty="0"/>
              <a:t>. Aber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wissen</a:t>
            </a:r>
            <a:r>
              <a:rPr dirty="0"/>
              <a:t> </a:t>
            </a:r>
            <a:r>
              <a:rPr dirty="0" err="1"/>
              <a:t>jetzt</a:t>
            </a:r>
            <a:r>
              <a:rPr dirty="0"/>
              <a:t> </a:t>
            </a:r>
            <a:r>
              <a:rPr dirty="0" err="1"/>
              <a:t>genau</a:t>
            </a:r>
            <a:r>
              <a:rPr dirty="0"/>
              <a:t> WARUM – </a:t>
            </a:r>
            <a:r>
              <a:rPr dirty="0" err="1"/>
              <a:t>Rauschgrenze</a:t>
            </a:r>
            <a:r>
              <a:rPr dirty="0"/>
              <a:t>, common-mode-</a:t>
            </a:r>
            <a:r>
              <a:rPr dirty="0" err="1"/>
              <a:t>Einkopplung</a:t>
            </a:r>
            <a:r>
              <a:rPr dirty="0"/>
              <a:t>, </a:t>
            </a:r>
            <a:r>
              <a:rPr dirty="0" err="1"/>
              <a:t>Bandbreite</a:t>
            </a:r>
            <a:r>
              <a:rPr dirty="0"/>
              <a:t> – und 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verwertbar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AEFA9-53BD-9DE8-C637-D6D4C9A05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52539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Zusammen </a:t>
            </a:r>
            <a:r>
              <a:rPr dirty="0" err="1"/>
              <a:t>Konkrete</a:t>
            </a:r>
            <a:r>
              <a:rPr dirty="0"/>
              <a:t>, </a:t>
            </a:r>
            <a:r>
              <a:rPr dirty="0" err="1"/>
              <a:t>priorisierte</a:t>
            </a:r>
            <a:r>
              <a:rPr dirty="0"/>
              <a:t> </a:t>
            </a:r>
            <a:r>
              <a:rPr dirty="0" err="1"/>
              <a:t>Massnahmen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geschaetztem</a:t>
            </a:r>
            <a:r>
              <a:rPr dirty="0"/>
              <a:t> </a:t>
            </a:r>
            <a:r>
              <a:rPr dirty="0" err="1"/>
              <a:t>Gewinn</a:t>
            </a:r>
            <a:r>
              <a:rPr dirty="0"/>
              <a:t>. </a:t>
            </a:r>
            <a:r>
              <a:rPr dirty="0" err="1"/>
              <a:t>Schritte</a:t>
            </a:r>
            <a:r>
              <a:rPr dirty="0"/>
              <a:t> 1 und 2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billig</a:t>
            </a:r>
            <a:r>
              <a:rPr dirty="0"/>
              <a:t> und </a:t>
            </a:r>
            <a:r>
              <a:rPr dirty="0" err="1"/>
              <a:t>wirksam</a:t>
            </a:r>
            <a:r>
              <a:rPr dirty="0"/>
              <a:t>. Schritt 5 </a:t>
            </a:r>
            <a:r>
              <a:rPr dirty="0" err="1"/>
              <a:t>adressiert</a:t>
            </a:r>
            <a:r>
              <a:rPr dirty="0"/>
              <a:t> die MEMS-</a:t>
            </a:r>
            <a:r>
              <a:rPr dirty="0" err="1"/>
              <a:t>spezifischen</a:t>
            </a:r>
            <a:r>
              <a:rPr dirty="0"/>
              <a:t> </a:t>
            </a:r>
            <a:r>
              <a:rPr dirty="0" err="1"/>
              <a:t>Luecken</a:t>
            </a:r>
            <a:r>
              <a:rPr dirty="0"/>
              <a:t>: </a:t>
            </a: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dokumentierte</a:t>
            </a:r>
            <a:r>
              <a:rPr dirty="0"/>
              <a:t> </a:t>
            </a:r>
            <a:r>
              <a:rPr dirty="0" err="1"/>
              <a:t>Sensorabstaende</a:t>
            </a:r>
            <a:r>
              <a:rPr dirty="0"/>
              <a:t>, common-mode-</a:t>
            </a:r>
            <a:r>
              <a:rPr dirty="0" err="1"/>
              <a:t>Entkopplung</a:t>
            </a:r>
            <a:r>
              <a:rPr dirty="0"/>
              <a:t> und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zeitlich</a:t>
            </a:r>
            <a:r>
              <a:rPr dirty="0"/>
              <a:t> </a:t>
            </a:r>
            <a:r>
              <a:rPr dirty="0" err="1"/>
              <a:t>verankerte</a:t>
            </a:r>
            <a:r>
              <a:rPr dirty="0"/>
              <a:t> </a:t>
            </a:r>
            <a:r>
              <a:rPr dirty="0" err="1"/>
              <a:t>Positivkontrolle</a:t>
            </a:r>
            <a:r>
              <a:rPr dirty="0"/>
              <a:t> </a:t>
            </a:r>
            <a:r>
              <a:rPr dirty="0" err="1"/>
              <a:t>bleiben</a:t>
            </a:r>
            <a:r>
              <a:rPr dirty="0"/>
              <a:t> passive MEMS-</a:t>
            </a:r>
            <a:r>
              <a:rPr dirty="0" err="1"/>
              <a:t>Kandidaten</a:t>
            </a:r>
            <a:r>
              <a:rPr dirty="0"/>
              <a:t> </a:t>
            </a:r>
            <a:r>
              <a:rPr dirty="0" err="1"/>
              <a:t>nicht</a:t>
            </a:r>
            <a:r>
              <a:rPr dirty="0"/>
              <a:t> der </a:t>
            </a:r>
            <a:r>
              <a:rPr dirty="0" err="1"/>
              <a:t>Pflanze</a:t>
            </a:r>
            <a:r>
              <a:rPr dirty="0"/>
              <a:t> </a:t>
            </a:r>
            <a:r>
              <a:rPr dirty="0" err="1"/>
              <a:t>zuzuordnen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Zusammenfassung in drei Saetzen ueber beide Sensorgenerationen. Offen fuer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4445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FD3E6"/>
                </a:solidFill>
                <a:latin typeface="Calibri"/>
              </a:rPr>
              <a:t>ABSCHLUSSPRÄSENTATION  ·  PROJEKT I1  ·  SOMMERSEMESTER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Passive akustische Emissions-Überwachung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von Pflanzenstress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1">
                <a:solidFill>
                  <a:srgbClr val="CFDEEA"/>
                </a:solidFill>
                <a:latin typeface="Calibri"/>
              </a:rPr>
              <a:t>Systemcharakterisierung und experimentelle Validierung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Christoph Bellmann  ·  Julian Hübke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FDEEA"/>
                </a:solidFill>
                <a:latin typeface="Calibri"/>
              </a:rPr>
              <a:t>Technische Hochschule Augsburg  ·  Systems Engineering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8CE"/>
                </a:solidFill>
                <a:latin typeface="Calibri"/>
              </a:rPr>
              <a:t>christoph.bellmann@tha.de  ·  julianhuebke@tha.de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5F318-8EE7-4824-325D-77CEB0472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9325AF-70B9-F83F-C320-F57B98E17F82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1CBD86-D90C-4A5A-CB37-64E75B54CACC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B6C62-F27A-B6D1-787C-216F91E729D6}"/>
              </a:ext>
            </a:extLst>
          </p:cNvPr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MOTIVATION &amp; ZIEL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EC63E-994B-BBF8-50A3-2176B903683F}"/>
              </a:ext>
            </a:extLst>
          </p:cNvPr>
          <p:cNvSpPr txBox="1"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Warum akustische Emissionen von Pflanzen?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4E3BEB-65DE-A2E4-D921-C44C94925C2B}"/>
              </a:ext>
            </a:extLst>
          </p:cNvPr>
          <p:cNvSpPr txBox="1"/>
          <p:nvPr/>
        </p:nvSpPr>
        <p:spPr>
          <a:xfrm>
            <a:off x="548640" y="1943891"/>
            <a:ext cx="6012704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22222"/>
                </a:solidFill>
                <a:latin typeface="Calibri"/>
              </a:rPr>
              <a:t>Fehlendes Wasser im Wurzelbereich -&gt; Bildung von Luftblasen in der inneren Wassersäule</a:t>
            </a: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22222"/>
                </a:solidFill>
                <a:latin typeface="Calibri"/>
              </a:rPr>
              <a:t>Platzen der Blase -&gt; Microrisse an Zellen und Ultraschallwellen</a:t>
            </a: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22222"/>
                </a:solidFill>
                <a:latin typeface="Calibri"/>
              </a:rPr>
              <a:t>Je größer der Wasserstress, desto mehr AE (akustische Emissionen)</a:t>
            </a: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22222"/>
                </a:solidFill>
              </a:rPr>
              <a:t>Bisherige Forschung begrenzt auf Pflanzen mit Stamm oder langen Halmen (Tomaten, Tabak)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lang="de-DE" dirty="0">
                <a:solidFill>
                  <a:srgbClr val="222222"/>
                </a:solidFill>
              </a:rPr>
              <a:t>-&gt; Lücke: Die Untersuchung von Schallwellen bei/im Wurzelpflanzen/-bereich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B07C18-5F21-69B7-2BEA-1AB0AC0E0D34}"/>
              </a:ext>
            </a:extLst>
          </p:cNvPr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 dirty="0">
                <a:solidFill>
                  <a:srgbClr val="606670"/>
                </a:solidFill>
                <a:latin typeface="Calibri"/>
              </a:rPr>
              <a:t>Plant AE Monitoring  ·  </a:t>
            </a:r>
            <a:r>
              <a:rPr sz="1000" b="0" i="0" dirty="0" err="1">
                <a:solidFill>
                  <a:srgbClr val="606670"/>
                </a:solidFill>
                <a:latin typeface="Calibri"/>
              </a:rPr>
              <a:t>Systemcharakterisierung</a:t>
            </a:r>
            <a:endParaRPr sz="1000" b="0" i="0" dirty="0">
              <a:solidFill>
                <a:srgbClr val="606670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F0004-31C3-2C5B-B028-AEB66EA9CA1B}"/>
              </a:ext>
            </a:extLst>
          </p:cNvPr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2</a:t>
            </a:r>
          </a:p>
        </p:txBody>
      </p:sp>
      <p:pic>
        <p:nvPicPr>
          <p:cNvPr id="13" name="Grafik 12" descr="Ein Bild, das Screenshot, Grün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6B3CD7BC-1577-D42D-B0D3-CC30E3D19D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2914"/>
          <a:stretch>
            <a:fillRect/>
          </a:stretch>
        </p:blipFill>
        <p:spPr>
          <a:xfrm>
            <a:off x="7709013" y="1435608"/>
            <a:ext cx="4083200" cy="3552203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0F57232E-F1B8-D85B-9405-CAFA95748DCC}"/>
              </a:ext>
            </a:extLst>
          </p:cNvPr>
          <p:cNvSpPr txBox="1"/>
          <p:nvPr/>
        </p:nvSpPr>
        <p:spPr>
          <a:xfrm>
            <a:off x="7889638" y="6615684"/>
            <a:ext cx="31739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Quelle: https://link.springer.com/article/10.1007/s10409-020-00980-1</a:t>
            </a:r>
          </a:p>
        </p:txBody>
      </p:sp>
    </p:spTree>
    <p:extLst>
      <p:ext uri="{BB962C8B-B14F-4D97-AF65-F5344CB8AC3E}">
        <p14:creationId xmlns:p14="http://schemas.microsoft.com/office/powerpoint/2010/main" val="1065642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AUFBAU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 dirty="0">
                <a:solidFill>
                  <a:srgbClr val="FFFFFF"/>
                </a:solidFill>
                <a:latin typeface="Calibri"/>
              </a:rPr>
              <a:t>Das </a:t>
            </a:r>
            <a:r>
              <a:rPr sz="2700" b="1" i="0" dirty="0" err="1">
                <a:solidFill>
                  <a:srgbClr val="FFFFFF"/>
                </a:solidFill>
                <a:latin typeface="Calibri"/>
              </a:rPr>
              <a:t>Messsystem</a:t>
            </a:r>
            <a:endParaRPr sz="27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6" name="Picture 5" descr="fig1_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977" y="1417320"/>
            <a:ext cx="8553741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28823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 dirty="0">
                <a:solidFill>
                  <a:srgbClr val="222222"/>
                </a:solidFill>
                <a:latin typeface="Calibri"/>
              </a:rPr>
              <a:t>•  CH1 = Boden-Piezo </a:t>
            </a:r>
            <a:r>
              <a:rPr sz="1600" b="0" i="0" dirty="0" err="1">
                <a:solidFill>
                  <a:srgbClr val="222222"/>
                </a:solidFill>
                <a:latin typeface="Calibri"/>
              </a:rPr>
              <a:t>im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Calibri"/>
              </a:rPr>
              <a:t>Wurzelbereich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 (</a:t>
            </a:r>
            <a:r>
              <a:rPr sz="1600" b="0" i="0" dirty="0" err="1">
                <a:solidFill>
                  <a:srgbClr val="222222"/>
                </a:solidFill>
                <a:latin typeface="Calibri"/>
              </a:rPr>
              <a:t>Pflanzenkanal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); CH3/CH4 = </a:t>
            </a:r>
            <a:r>
              <a:rPr sz="1600" b="0" i="0" dirty="0" err="1">
                <a:solidFill>
                  <a:srgbClr val="222222"/>
                </a:solidFill>
                <a:latin typeface="Calibri"/>
              </a:rPr>
              <a:t>Referenz-Piezos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 an </a:t>
            </a:r>
            <a:r>
              <a:rPr sz="1600" b="0" i="0" dirty="0" err="1">
                <a:solidFill>
                  <a:srgbClr val="222222"/>
                </a:solidFill>
                <a:latin typeface="Calibri"/>
              </a:rPr>
              <a:t>einem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Calibri"/>
              </a:rPr>
              <a:t>Stahlstab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.  CH2 </a:t>
            </a:r>
            <a:r>
              <a:rPr sz="1600" b="0" i="0" dirty="0" err="1">
                <a:solidFill>
                  <a:srgbClr val="222222"/>
                </a:solidFill>
                <a:latin typeface="Calibri"/>
              </a:rPr>
              <a:t>defekt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 dirty="0">
                <a:solidFill>
                  <a:srgbClr val="222222"/>
                </a:solidFill>
                <a:latin typeface="Calibri"/>
              </a:rPr>
              <a:t>•  </a:t>
            </a:r>
            <a:r>
              <a:rPr sz="1600" b="0" i="0" dirty="0" err="1">
                <a:solidFill>
                  <a:srgbClr val="222222"/>
                </a:solidFill>
                <a:latin typeface="Calibri"/>
              </a:rPr>
              <a:t>Verstärkung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 per LM358; </a:t>
            </a:r>
            <a:r>
              <a:rPr sz="1600" b="0" i="0" dirty="0" err="1">
                <a:solidFill>
                  <a:srgbClr val="222222"/>
                </a:solidFill>
                <a:latin typeface="Calibri"/>
              </a:rPr>
              <a:t>Aufnahme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Calibri"/>
              </a:rPr>
              <a:t>mit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 Rigol DS1104Z: 500 </a:t>
            </a:r>
            <a:r>
              <a:rPr sz="1600" b="0" i="0" dirty="0" err="1">
                <a:solidFill>
                  <a:srgbClr val="222222"/>
                </a:solidFill>
                <a:latin typeface="Calibri"/>
              </a:rPr>
              <a:t>kSa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/s, 300 000 </a:t>
            </a:r>
            <a:r>
              <a:rPr sz="1600" b="0" i="0" dirty="0" err="1">
                <a:solidFill>
                  <a:srgbClr val="222222"/>
                </a:solidFill>
                <a:latin typeface="Calibri"/>
              </a:rPr>
              <a:t>Punkte</a:t>
            </a:r>
            <a:r>
              <a:rPr sz="1600" b="0" i="0" dirty="0">
                <a:solidFill>
                  <a:srgbClr val="222222"/>
                </a:solidFill>
                <a:latin typeface="Calibri"/>
              </a:rPr>
              <a:t> pro Frame (0,6 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Plant AE Monitoring  ·  Systemcharakterisierung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3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2245CC4A-DBFE-CB70-AD39-3E20F5C793F0}"/>
              </a:ext>
            </a:extLst>
          </p:cNvPr>
          <p:cNvSpPr/>
          <p:nvPr/>
        </p:nvSpPr>
        <p:spPr>
          <a:xfrm>
            <a:off x="2057749" y="2548977"/>
            <a:ext cx="1088905" cy="479885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MEMS-Microphone</a:t>
            </a:r>
            <a:endParaRPr lang="en-US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35D027C1-CBEB-CC11-A765-CD815DBAC8C8}"/>
              </a:ext>
            </a:extLst>
          </p:cNvPr>
          <p:cNvSpPr/>
          <p:nvPr/>
        </p:nvSpPr>
        <p:spPr>
          <a:xfrm>
            <a:off x="2057749" y="3423765"/>
            <a:ext cx="1088905" cy="479885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MEMS-Microphone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AUFBAU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Realer Messaufbau &amp; Oszilloskop-Signal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394960" cy="38404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3560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Pflanze mit Boden-Piezo (CH1)</a:t>
            </a:r>
          </a:p>
        </p:txBody>
      </p:sp>
      <p:pic>
        <p:nvPicPr>
          <p:cNvPr id="8" name="Picture 7" descr="WhatsApp Video 2026-06-03 at 20.09.48_frame_00-00-27-16.png"/>
          <p:cNvPicPr>
            <a:picLocks noChangeAspect="1"/>
          </p:cNvPicPr>
          <p:nvPr/>
        </p:nvPicPr>
        <p:blipFill>
          <a:blip r:embed="rId3"/>
          <a:srcRect l="10753" r="11892"/>
          <a:stretch>
            <a:fillRect/>
          </a:stretch>
        </p:blipFill>
        <p:spPr>
          <a:xfrm>
            <a:off x="607275" y="1920240"/>
            <a:ext cx="3552898" cy="25889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63640" y="1417320"/>
            <a:ext cx="5394960" cy="38404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3560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CA02C"/>
                </a:solidFill>
                <a:latin typeface="Calibri"/>
              </a:rPr>
              <a:t>Gemessenes Spektrum (nach Bewässerung)</a:t>
            </a:r>
          </a:p>
        </p:txBody>
      </p:sp>
      <p:pic>
        <p:nvPicPr>
          <p:cNvPr id="11" name="Picture 10" descr="oscilloscope_spectr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648" y="1920240"/>
            <a:ext cx="4570944" cy="3566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Plant AE Monitoring  ·  Systemcharakterisierung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4</a:t>
            </a:r>
          </a:p>
        </p:txBody>
      </p:sp>
      <p:pic>
        <p:nvPicPr>
          <p:cNvPr id="18" name="Grafik 17" descr="Ein Bild, das Zimmerpflanze, Im Haus, Haushaltsgerät, Pflanze enthält.&#10;&#10;KI-generierte Inhalte können fehlerhaft sein.">
            <a:extLst>
              <a:ext uri="{FF2B5EF4-FFF2-40B4-BE49-F238E27FC236}">
                <a16:creationId xmlns:a16="http://schemas.microsoft.com/office/drawing/2014/main" id="{D2074CCF-6C59-E867-4045-4FB8F58BD8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494" b="7609"/>
          <a:stretch>
            <a:fillRect/>
          </a:stretch>
        </p:blipFill>
        <p:spPr>
          <a:xfrm>
            <a:off x="3781510" y="3297832"/>
            <a:ext cx="2374635" cy="27818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VORGEHEN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Messgrößen und Auswertung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611880" cy="4206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11880" cy="76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F3A5F"/>
                </a:solidFill>
                <a:latin typeface="Calibri"/>
              </a:rPr>
              <a:t>Aufnahme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9184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0" i="0" dirty="0">
                <a:solidFill>
                  <a:srgbClr val="222222"/>
                </a:solidFill>
                <a:latin typeface="Calibri"/>
              </a:rPr>
              <a:t>•  Memory: 500 </a:t>
            </a:r>
            <a:r>
              <a:rPr sz="1500" b="0" i="0" dirty="0" err="1">
                <a:solidFill>
                  <a:srgbClr val="222222"/>
                </a:solidFill>
                <a:latin typeface="Calibri"/>
              </a:rPr>
              <a:t>kSa</a:t>
            </a:r>
            <a:r>
              <a:rPr sz="1500" b="0" i="0" dirty="0">
                <a:solidFill>
                  <a:srgbClr val="222222"/>
                </a:solidFill>
                <a:latin typeface="Calibri"/>
              </a:rPr>
              <a:t>/s, 0,6 s/Frame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0" i="0" dirty="0">
                <a:solidFill>
                  <a:srgbClr val="222222"/>
                </a:solidFill>
                <a:latin typeface="Calibri"/>
              </a:rPr>
              <a:t>•  AC-</a:t>
            </a:r>
            <a:r>
              <a:rPr sz="1500" b="0" i="0" dirty="0" err="1">
                <a:solidFill>
                  <a:srgbClr val="222222"/>
                </a:solidFill>
                <a:latin typeface="Calibri"/>
              </a:rPr>
              <a:t>Kopplung</a:t>
            </a:r>
            <a:r>
              <a:rPr sz="1500" b="0" i="0" dirty="0">
                <a:solidFill>
                  <a:srgbClr val="222222"/>
                </a:solidFill>
                <a:latin typeface="Calibri"/>
              </a:rPr>
              <a:t>, 0,5 V/div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0" i="0" dirty="0">
                <a:solidFill>
                  <a:srgbClr val="222222"/>
                </a:solidFill>
                <a:latin typeface="Calibri"/>
              </a:rPr>
              <a:t>•  Raspberry Pi Pico </a:t>
            </a:r>
            <a:r>
              <a:rPr sz="1500" b="0" i="0" dirty="0" err="1">
                <a:solidFill>
                  <a:srgbClr val="222222"/>
                </a:solidFill>
                <a:latin typeface="Calibri"/>
              </a:rPr>
              <a:t>erzeugt</a:t>
            </a:r>
            <a:r>
              <a:rPr sz="15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Calibri"/>
              </a:rPr>
              <a:t>bekannten</a:t>
            </a:r>
            <a:r>
              <a:rPr sz="1500" b="0" i="0" dirty="0">
                <a:solidFill>
                  <a:srgbClr val="222222"/>
                </a:solidFill>
                <a:latin typeface="Calibri"/>
              </a:rPr>
              <a:t> 20–100 kHz-Chirp </a:t>
            </a:r>
            <a:r>
              <a:rPr sz="1500" b="0" i="0" dirty="0" err="1">
                <a:solidFill>
                  <a:srgbClr val="222222"/>
                </a:solidFill>
                <a:latin typeface="Calibri"/>
              </a:rPr>
              <a:t>zur</a:t>
            </a:r>
            <a:r>
              <a:rPr sz="15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Calibri"/>
              </a:rPr>
              <a:t>Kalibrierung</a:t>
            </a:r>
            <a:endParaRPr sz="150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15968" y="1417320"/>
            <a:ext cx="3611880" cy="4206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417320"/>
            <a:ext cx="3611880" cy="762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6002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CA02C"/>
                </a:solidFill>
                <a:latin typeface="Calibri"/>
              </a:rPr>
              <a:t>Kennzahlen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1945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Multi-Frame-Kohärenz γ² (Kanaltreue)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MLE-Laufzeit τ̂ zwischen Sensoren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Bandenergien in 5-kHz-Bins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417320"/>
            <a:ext cx="3611880" cy="4206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417320"/>
            <a:ext cx="3611880" cy="76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1896" y="16002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C0392B"/>
                </a:solidFill>
                <a:latin typeface="Calibri"/>
              </a:rPr>
              <a:t>Statistik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1945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Wilcoxon-Test (gepaart, prä/post)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FDR-Korrektur (Benjamini–Hochberg)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Kendall τ (Trend) + Mann–Whitney (drift-korrigiert)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Plant AE Monitoring  ·  Systemcharakterisierung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SYSTEMCHARAKTERISIERUNG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Nutzbares Frequenzband: 5–35 kHz</a:t>
            </a:r>
          </a:p>
        </p:txBody>
      </p:sp>
      <p:pic>
        <p:nvPicPr>
          <p:cNvPr id="6" name="Picture 5" descr="fig2_bandwid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7" y="1417320"/>
            <a:ext cx="10607040" cy="3450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5623560"/>
            <a:ext cx="11183112" cy="6583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7620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10789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Kernaussage: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Kalibriertes Band 5–35 kHz (γ² ≥ 0,95); darüber bricht der LM358 ein. Das primäre Kavitationsband (100–500 kHz) ist unerreichbar.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Plant AE Monitoring  ·  Systemcharakterisierung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SYSTEMCHARAKTERISIERUNG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Sensorgeometrie über Laufzeit</a:t>
            </a:r>
          </a:p>
        </p:txBody>
      </p:sp>
      <p:pic>
        <p:nvPicPr>
          <p:cNvPr id="6" name="Picture 5" descr="fig3_t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7" y="1417320"/>
            <a:ext cx="10607040" cy="35407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5623560"/>
            <a:ext cx="11183112" cy="6583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7620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10789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Kernaussage: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Laufzeit ≈ 0 im Kalibrierband → Sensoren äquidistant. Der feste +1,95 µs-Versatz bei 9,17 kHz ist ein Resonanz-Phasenartefakt, keine Geometrie.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Plant AE Monitoring  ·  Systemcharakterisierung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SYSTEMCHARAKTERISIERUNG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Die Rauschgrenze — der entscheidende Punkt</a:t>
            </a:r>
          </a:p>
        </p:txBody>
      </p:sp>
      <p:pic>
        <p:nvPicPr>
          <p:cNvPr id="6" name="Picture 5" descr="fig4_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7" y="1371600"/>
            <a:ext cx="10607040" cy="37427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5623560"/>
            <a:ext cx="11183112" cy="6583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7620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10789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Kernaussage: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Der Bodenkanal (CH1) rauscht mit 137 mV RMS – dominiert durch 1/f- und Netzeinkopplung. Jedes Pflanzensignal müsste diese Kurve überschreiten.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Plant AE Monitoring  ·  Systemcharakterisierung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Bewässerung: kein detektierbares Signal</a:t>
            </a:r>
          </a:p>
        </p:txBody>
      </p:sp>
      <p:pic>
        <p:nvPicPr>
          <p:cNvPr id="6" name="Picture 5" descr="fig5_wat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157" y="1371600"/>
            <a:ext cx="8801381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5623560"/>
            <a:ext cx="11183112" cy="6583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7620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10789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Kernaussage: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Nach Drift-Korrektur kein Effekt (p = 0,86). Scheinbar signifikante Ergebnisse (p = 0,002) sind reine thermische Verstärker-Drift (Kendall τ = +0,69).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Plant AE Monitoring  ·  Systemcharakterisierung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KONTROLLE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Positivkontrolle: die Pipeline funktioniert</a:t>
            </a:r>
          </a:p>
        </p:txBody>
      </p:sp>
      <p:pic>
        <p:nvPicPr>
          <p:cNvPr id="6" name="Picture 5" descr="fig7_re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7" y="1371600"/>
            <a:ext cx="10607040" cy="369399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5623560"/>
            <a:ext cx="11183112" cy="6583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76200" cy="658368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10789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CA02C"/>
                </a:solidFill>
                <a:latin typeface="Calibri"/>
              </a:rPr>
              <a:t>Kernaussage: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Ein bekannt eingespeistes Signal wird mit +52,6 dB Abstand klar erkannt (p &lt; 10⁻¹²). Das Negativergebnis ist echt – kein Pipeline-Fehler.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Plant AE Monitoring  ·  Systemcharakterisierung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Umbau auf MEMS-Mikrofone &amp; Salatpflanze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Aufbau umgezogen; CH3/CH4 von Piezo auf MEMS-Mikrofone umgerüstet (gleiche LM-Verstärkerstufen).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Neue Pflanze seit 14.07.2026: Salat (Lactuca sativa); kein Home Assistant → keine automatische Bewässerung/Temperatur.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606670"/>
                </a:solidFill>
                <a:latin typeface="Calibri"/>
              </a:rPr>
              <a:t>•  MEMS-Kette direkt aus Rohdaten neu charakterisiert (Sweep 5–100 kHz, 80 Frames; Rohdaten automatisch per git-LFS versioniert).</a:t>
            </a:r>
          </a:p>
        </p:txBody>
      </p:sp>
      <p:pic>
        <p:nvPicPr>
          <p:cNvPr id="7" name="Picture 6" descr="fig_mems_phas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540" y="2880360"/>
            <a:ext cx="9714615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83112" cy="6583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5623560"/>
            <a:ext cx="7620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10789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Kernaussage: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Kalibriertes MEMS-Band wieder 5–35 kHz. Boden-Rauschen dominiert von einem gemeinsamen ~5,36-kHz-Kamm: Netzteil-Tausch verschob ihn (−35 Hz), beseitigte ihn aber nicht → Quelle nicht isoliert.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Plant AE Monitoring  ·  Systemcharakterisierung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PHASE 3 – BEFUND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MEMS in Luft &amp; Boden: kein Pflanzen-AE</a:t>
            </a:r>
          </a:p>
        </p:txBody>
      </p:sp>
      <p:pic>
        <p:nvPicPr>
          <p:cNvPr id="6" name="Picture 5" descr="methods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86785"/>
            <a:ext cx="5943600" cy="37929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9400" y="15544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Boden-Einführung hebt den Pegel (Median-RMS 80 → 303 mV), CH3/CH4 bleiben nahezu gleich.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Dichter, kohärenter Linienkamm; stärkste Linie 32,59 kHz mit γ² = 0,997.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•  GCC-PHAT = 0,000 µs → common-mode, nicht lokalisierbar (keine Geometrie-Information).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•  CH3-Sättigung in Frame 13; kein Band übersteht die FDR-Korrektur (0/32).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183112" cy="6583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5623560"/>
            <a:ext cx="7620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10789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Kernaussage: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Beide MEMS funktionieren, aber weder Luft noch Boden liefern Pflanzen-AE – der Boden verstärkt vor allem ein kohärentes Störfeld.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Plant AE Monitoring  ·  Systemcharakterisierung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FAZIT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Was wir gelernt haben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064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Kalibriertes Messband 5–35 kHz (Piezo und MEMS); Sensorgeometrie über Laufzeit bestätigt.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Kein Pflanzen-AE im Bewässerungsexperiment – nach strenger Drift-Korrektur (p = 0,86).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CA02C"/>
                </a:solidFill>
                <a:latin typeface="Calibri"/>
              </a:rPr>
              <a:t>•  Phase-3-MEMS (Luft &amp; Boden): ebenfalls kein Pflanzen-AE; Boden zeigt nur ein kohärentes Störfeld (32,59 kHz) + CH3-Sättigung.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Positivkontrolle belegt: die Auswertung ist funktionsfähig, das Negativergebnis ist belastbar.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•  Hauptlimit: LM358-Rauschgrenze und common-mode-Einkopplung – 20–40 dB über erwarteten AE-Amplituden.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Zusätzlich schließt die Bandbreite (&lt;35 kHz) das Kavitationsband (100–500 kHz) aus.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Plant AE Monitoring  ·  Systemcharakterisierung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464A7-3ADC-831D-7EAD-18BEA5A96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D24221-2C6B-DCE2-600C-A943FB6E65F6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B693B7-AD60-8275-279F-92BD14C98EDB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D0945-34D5-B7B6-CA1E-92FDC6CE3D9B}"/>
              </a:ext>
            </a:extLst>
          </p:cNvPr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FAZIT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CFDA1-FC40-CA7F-FE9D-92036EDFF3DF}"/>
              </a:ext>
            </a:extLst>
          </p:cNvPr>
          <p:cNvSpPr txBox="1"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Was wir gelernt haben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D10C9-E850-8CE1-8660-22DE667A8350}"/>
              </a:ext>
            </a:extLst>
          </p:cNvPr>
          <p:cNvSpPr txBox="1"/>
          <p:nvPr/>
        </p:nvSpPr>
        <p:spPr>
          <a:xfrm>
            <a:off x="640080" y="1371600"/>
            <a:ext cx="11064240" cy="383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de-DE" sz="1700" b="0" i="0" dirty="0">
                <a:solidFill>
                  <a:srgbClr val="222222"/>
                </a:solidFill>
                <a:latin typeface="Calibri"/>
              </a:rPr>
              <a:t>AE bei Wasserstress konnte nicht nach gewiesen werden</a:t>
            </a:r>
          </a:p>
          <a:p>
            <a:pPr marL="285750" indent="-285750">
              <a:spcBef>
                <a:spcPts val="0"/>
              </a:spcBef>
              <a:spcAft>
                <a:spcPts val="1100"/>
              </a:spcAft>
              <a:buFont typeface="Arial" panose="020B0604020202020204" pitchFamily="34" charset="0"/>
              <a:buChar char="•"/>
            </a:pPr>
            <a:endParaRPr lang="de-DE" sz="1700" b="0" i="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1100"/>
              </a:spcAft>
            </a:pPr>
            <a:endParaRPr lang="de-DE" sz="17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 dirty="0">
                <a:solidFill>
                  <a:srgbClr val="222222"/>
                </a:solidFill>
                <a:latin typeface="Calibri"/>
              </a:rPr>
              <a:t>• 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Kalibriertes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Messband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5–35 kHz (Piezo und MEMS);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Sensorgeometrie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über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Laufzeit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bestätigt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 dirty="0">
                <a:solidFill>
                  <a:srgbClr val="222222"/>
                </a:solidFill>
                <a:latin typeface="Calibri"/>
              </a:rPr>
              <a:t>•  Kein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Pflanzen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-AE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im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Bewässerungsexperiment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–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nach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strenger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Drift-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Korrektur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(p = 0,86).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 dirty="0">
                <a:solidFill>
                  <a:srgbClr val="2CA02C"/>
                </a:solidFill>
                <a:latin typeface="Calibri"/>
              </a:rPr>
              <a:t>•  Phase-3-MEMS (Luft &amp; Boden): </a:t>
            </a:r>
            <a:r>
              <a:rPr sz="1700" b="1" i="0" dirty="0" err="1">
                <a:solidFill>
                  <a:srgbClr val="2CA02C"/>
                </a:solidFill>
                <a:latin typeface="Calibri"/>
              </a:rPr>
              <a:t>ebenfalls</a:t>
            </a:r>
            <a:r>
              <a:rPr sz="1700" b="1" i="0" dirty="0">
                <a:solidFill>
                  <a:srgbClr val="2CA0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2CA02C"/>
                </a:solidFill>
                <a:latin typeface="Calibri"/>
              </a:rPr>
              <a:t>kein</a:t>
            </a:r>
            <a:r>
              <a:rPr sz="1700" b="1" i="0" dirty="0">
                <a:solidFill>
                  <a:srgbClr val="2CA0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2CA02C"/>
                </a:solidFill>
                <a:latin typeface="Calibri"/>
              </a:rPr>
              <a:t>Pflanzen</a:t>
            </a:r>
            <a:r>
              <a:rPr sz="1700" b="1" i="0" dirty="0">
                <a:solidFill>
                  <a:srgbClr val="2CA02C"/>
                </a:solidFill>
                <a:latin typeface="Calibri"/>
              </a:rPr>
              <a:t>-AE; Boden </a:t>
            </a:r>
            <a:r>
              <a:rPr sz="1700" b="1" i="0" dirty="0" err="1">
                <a:solidFill>
                  <a:srgbClr val="2CA02C"/>
                </a:solidFill>
                <a:latin typeface="Calibri"/>
              </a:rPr>
              <a:t>zeigt</a:t>
            </a:r>
            <a:r>
              <a:rPr sz="1700" b="1" i="0" dirty="0">
                <a:solidFill>
                  <a:srgbClr val="2CA0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2CA02C"/>
                </a:solidFill>
                <a:latin typeface="Calibri"/>
              </a:rPr>
              <a:t>nur</a:t>
            </a:r>
            <a:r>
              <a:rPr sz="1700" b="1" i="0" dirty="0">
                <a:solidFill>
                  <a:srgbClr val="2CA0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2CA02C"/>
                </a:solidFill>
                <a:latin typeface="Calibri"/>
              </a:rPr>
              <a:t>ein</a:t>
            </a:r>
            <a:r>
              <a:rPr sz="1700" b="1" i="0" dirty="0">
                <a:solidFill>
                  <a:srgbClr val="2CA0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2CA02C"/>
                </a:solidFill>
                <a:latin typeface="Calibri"/>
              </a:rPr>
              <a:t>kohärentes</a:t>
            </a:r>
            <a:r>
              <a:rPr sz="1700" b="1" i="0" dirty="0">
                <a:solidFill>
                  <a:srgbClr val="2CA0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2CA02C"/>
                </a:solidFill>
                <a:latin typeface="Calibri"/>
              </a:rPr>
              <a:t>Störfeld</a:t>
            </a:r>
            <a:r>
              <a:rPr sz="1700" b="1" i="0" dirty="0">
                <a:solidFill>
                  <a:srgbClr val="2CA02C"/>
                </a:solidFill>
                <a:latin typeface="Calibri"/>
              </a:rPr>
              <a:t> (32,59 kHz) + CH3-Sättigung.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 dirty="0">
                <a:solidFill>
                  <a:srgbClr val="222222"/>
                </a:solidFill>
                <a:latin typeface="Calibri"/>
              </a:rPr>
              <a:t>• 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Positivkontrolle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belegt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: die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Auswertung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ist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funktionsfähig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, das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Negativergebnis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ist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belastbar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 dirty="0">
                <a:solidFill>
                  <a:srgbClr val="C0392B"/>
                </a:solidFill>
                <a:latin typeface="Calibri"/>
              </a:rPr>
              <a:t>•  </a:t>
            </a:r>
            <a:r>
              <a:rPr sz="1700" b="1" i="0" dirty="0" err="1">
                <a:solidFill>
                  <a:srgbClr val="C0392B"/>
                </a:solidFill>
                <a:latin typeface="Calibri"/>
              </a:rPr>
              <a:t>Hauptlimit</a:t>
            </a:r>
            <a:r>
              <a:rPr sz="1700" b="1" i="0" dirty="0">
                <a:solidFill>
                  <a:srgbClr val="C0392B"/>
                </a:solidFill>
                <a:latin typeface="Calibri"/>
              </a:rPr>
              <a:t>: LM358-Rauschgrenze und common-mode-</a:t>
            </a:r>
            <a:r>
              <a:rPr sz="1700" b="1" i="0" dirty="0" err="1">
                <a:solidFill>
                  <a:srgbClr val="C0392B"/>
                </a:solidFill>
                <a:latin typeface="Calibri"/>
              </a:rPr>
              <a:t>Einkopplung</a:t>
            </a:r>
            <a:r>
              <a:rPr sz="1700" b="1" i="0" dirty="0">
                <a:solidFill>
                  <a:srgbClr val="C0392B"/>
                </a:solidFill>
                <a:latin typeface="Calibri"/>
              </a:rPr>
              <a:t> – 20–40 dB </a:t>
            </a:r>
            <a:r>
              <a:rPr sz="1700" b="1" i="0" dirty="0" err="1">
                <a:solidFill>
                  <a:srgbClr val="C0392B"/>
                </a:solidFill>
                <a:latin typeface="Calibri"/>
              </a:rPr>
              <a:t>über</a:t>
            </a:r>
            <a:r>
              <a:rPr sz="1700" b="1" i="0" dirty="0">
                <a:solidFill>
                  <a:srgbClr val="C0392B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C0392B"/>
                </a:solidFill>
                <a:latin typeface="Calibri"/>
              </a:rPr>
              <a:t>erwarteten</a:t>
            </a:r>
            <a:r>
              <a:rPr sz="1700" b="1" i="0" dirty="0">
                <a:solidFill>
                  <a:srgbClr val="C0392B"/>
                </a:solidFill>
                <a:latin typeface="Calibri"/>
              </a:rPr>
              <a:t> AE-</a:t>
            </a:r>
            <a:r>
              <a:rPr sz="1700" b="1" i="0" dirty="0" err="1">
                <a:solidFill>
                  <a:srgbClr val="C0392B"/>
                </a:solidFill>
                <a:latin typeface="Calibri"/>
              </a:rPr>
              <a:t>Amplituden</a:t>
            </a:r>
            <a:r>
              <a:rPr sz="1700" b="1" i="0" dirty="0">
                <a:solidFill>
                  <a:srgbClr val="C0392B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 dirty="0">
                <a:solidFill>
                  <a:srgbClr val="222222"/>
                </a:solidFill>
                <a:latin typeface="Calibri"/>
              </a:rPr>
              <a:t>• 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Zusätzlich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schließt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die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Bandbreite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(&lt;35 kHz) das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Kavitationsband</a:t>
            </a:r>
            <a:r>
              <a:rPr sz="1700" b="0" i="0" dirty="0">
                <a:solidFill>
                  <a:srgbClr val="222222"/>
                </a:solidFill>
                <a:latin typeface="Calibri"/>
              </a:rPr>
              <a:t> (100–500 kHz) </a:t>
            </a:r>
            <a:r>
              <a:rPr sz="1700" b="0" i="0" dirty="0" err="1">
                <a:solidFill>
                  <a:srgbClr val="222222"/>
                </a:solidFill>
                <a:latin typeface="Calibri"/>
              </a:rPr>
              <a:t>aus.</a:t>
            </a:r>
            <a:endParaRPr sz="170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F40E4-E20A-3EE8-3E50-072B826C5825}"/>
              </a:ext>
            </a:extLst>
          </p:cNvPr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Plant AE Monitoring  ·  Systemcharakterisierung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BB5B9F-BC74-6CB7-1EA5-5B68395E5E4F}"/>
              </a:ext>
            </a:extLst>
          </p:cNvPr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138462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FD3E6"/>
                </a:solidFill>
                <a:latin typeface="Calibri"/>
              </a:rPr>
              <a:t>AUSBLICK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Weg zur Nachweisbarkeit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48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417320"/>
            <a:ext cx="8321040" cy="6583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1417320"/>
            <a:ext cx="795527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Rauscharmer Vorverstärker (e_n ≈ 4 nV/√Hz, z. B. OPA2134)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1417320"/>
            <a:ext cx="2011680" cy="658368"/>
          </a:xfrm>
          <a:prstGeom prst="rect">
            <a:avLst/>
          </a:prstGeom>
          <a:solidFill>
            <a:srgbClr val="E2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0" y="141732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≈ 18 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03704"/>
            <a:ext cx="5486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03704"/>
            <a:ext cx="548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203704"/>
            <a:ext cx="8321040" cy="6583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08760" y="2203704"/>
            <a:ext cx="795527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Hardware-Hochpass 1 kHz am Verstärkereingang (1/f + Netz)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203704"/>
            <a:ext cx="2011680" cy="658368"/>
          </a:xfrm>
          <a:prstGeom prst="rect">
            <a:avLst/>
          </a:prstGeom>
          <a:solidFill>
            <a:srgbClr val="E2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0" y="2203704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≈ 20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990088"/>
            <a:ext cx="5486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990088"/>
            <a:ext cx="548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2990088"/>
            <a:ext cx="8321040" cy="6583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08760" y="2990088"/>
            <a:ext cx="795527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Resonanter 150-kHz-Piezo + 5 MSa/s-ADC → Kavitationsband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2990088"/>
            <a:ext cx="2011680" cy="658368"/>
          </a:xfrm>
          <a:prstGeom prst="rect">
            <a:avLst/>
          </a:prstGeom>
          <a:solidFill>
            <a:srgbClr val="E2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0" y="299008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neuer Bereich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76472"/>
            <a:ext cx="5486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776472"/>
            <a:ext cx="548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3776472"/>
            <a:ext cx="8321040" cy="6583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08760" y="3776472"/>
            <a:ext cx="795527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Mechanische Isolation (schwingungsentkoppelter Sockel)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3776472"/>
            <a:ext cx="2011680" cy="658368"/>
          </a:xfrm>
          <a:prstGeom prst="rect">
            <a:avLst/>
          </a:prstGeom>
          <a:solidFill>
            <a:srgbClr val="E2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0" y="3776472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Störungen 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62856"/>
            <a:ext cx="5486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562856"/>
            <a:ext cx="548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4562856"/>
            <a:ext cx="8321040" cy="6583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08760" y="4562856"/>
            <a:ext cx="795527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MEMS: Geometrie dokumentieren, common-mode entkoppeln, Impuls-Positivkontrolle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4562856"/>
            <a:ext cx="2011680" cy="658368"/>
          </a:xfrm>
          <a:prstGeom prst="rect">
            <a:avLst/>
          </a:prstGeom>
          <a:solidFill>
            <a:srgbClr val="E2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92640" y="4562856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Phase 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623560"/>
            <a:ext cx="11183112" cy="6583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920" y="5623560"/>
            <a:ext cx="7620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5623560"/>
            <a:ext cx="10789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Kernaussage: 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Schritte 1 + 2 bringen CH1 unter 5 mV RMS; Schritt 5 macht künftige MEMS-Läufe erst interpretierbar.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Plant AE Monitoring  ·  Systemcharakterisierung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55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066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4445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Vielen Dank für Ihre Aufmerksamkeit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DDE8F1"/>
                </a:solidFill>
                <a:latin typeface="Calibri"/>
              </a:rPr>
              <a:t>•  Zwei Sensorgenerationen charakterisiert (Piezo &amp; MEMS): nutzbares Band 5–35 kHz.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DDE8F1"/>
                </a:solidFill>
                <a:latin typeface="Calibri"/>
              </a:rPr>
              <a:t>•  Kein Pflanzen-AE nachweisbar – begründet durch Rauschgrenze und common-mode-Einkopplung, nicht durch die Auswertung.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DDE8F1"/>
                </a:solidFill>
                <a:latin typeface="Calibri"/>
              </a:rPr>
              <a:t>•  Klarer, priorisierter Weg zur Nachweisbarkeit aufgezeigt.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23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BFD3E6"/>
                </a:solidFill>
                <a:latin typeface="Calibri"/>
              </a:rPr>
              <a:t>Christoph Bellmann · Julian Hübke  ·  THA Augsburg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8CE"/>
                </a:solidFill>
                <a:latin typeface="Calibri"/>
              </a:rPr>
              <a:t>Daten, Code und Paper: src/characterization/  (Rohdaten via git-LFS)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1705</Words>
  <Application>Microsoft Office PowerPoint</Application>
  <PresentationFormat>Breitbild</PresentationFormat>
  <Paragraphs>154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King Julien</dc:creator>
  <cp:keywords/>
  <dc:description>generated using python-pptx</dc:description>
  <cp:lastModifiedBy>Julian Hübke</cp:lastModifiedBy>
  <cp:revision>5</cp:revision>
  <dcterms:created xsi:type="dcterms:W3CDTF">2013-01-27T09:14:16Z</dcterms:created>
  <dcterms:modified xsi:type="dcterms:W3CDTF">2026-07-16T21:18:28Z</dcterms:modified>
  <cp:category/>
</cp:coreProperties>
</file>